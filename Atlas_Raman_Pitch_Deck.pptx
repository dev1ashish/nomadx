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2286000" cy="508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1460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02C"/>
                </a:solidFill>
                <a:latin typeface="Arial"/>
              </a:rPr>
              <a:t>Classifying Bacteria from Raman Spectra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52606D"/>
                </a:solidFill>
                <a:latin typeface="Arial"/>
              </a:rPr>
              <a:t>STEC · harmless E. coli · Salmonella · water — a confocal-Raman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E7C66"/>
                </a:solidFill>
                <a:latin typeface="Arial"/>
              </a:rPr>
              <a:t>87 samples   •   7,122 spectra   •   9 strains   •   evaluated leave-one-strain-out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06D"/>
                </a:solidFill>
                <a:latin typeface="Arial"/>
              </a:rPr>
              <a:t>NomadX take-home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The Problem &amp;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55778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The task: from one bacterium's Raman spectrum, decide which of 4 classes it is — STEC, harmless E. coli, Salmonella, or water (blank).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Why it matters: STEC (e.g. O157:H7) is the food-poisoning pathogen — telling it from harmless E. coli fast is real food-safety value.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What we got: 87 confocal-Raman maps from one lab (86 .xls + 1 .txt), ~72 pixel-spectra each, across 9 strains + water.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Quality control: 7,999 raw pixels → drop 6 low-signal + 871 background → 7,122 kept (89%). Each spectrum cropped 2,048 → 987 informative points.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A202C"/>
                </a:solidFill>
                <a:latin typeface="Arial"/>
              </a:rPr>
              <a:t>•  Honest headline up front: best classifier ≈ 60% per-class recall on unseen strains (chance = 25%). Strong where biology allows; near-chance where it doesn't.</a:t>
            </a:r>
          </a:p>
        </p:txBody>
      </p:sp>
      <p:pic>
        <p:nvPicPr>
          <p:cNvPr id="6" name="Picture 5" descr="summary_01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54480"/>
            <a:ext cx="5486400" cy="33568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494946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87 files / 7,122 spectra · 4 classes · 9 strains + water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WHY IT'S HARD · BIOLOGY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Why It's Hard — The One-Gene Crux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A202C"/>
                </a:solidFill>
                <a:latin typeface="Arial"/>
              </a:rPr>
              <a:t>•  STEC and harmless E. coli are the same species. What makes one deadly is a single Shiga-toxin gene, delivered by a bacteriophage (a virus that infects bacteria) — essentially one functional addition to an ordinary E. coli genome.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The boundary is virulence-defined, not phylogenetic: the two organisms are nearly identical; only the acquired toxin gene differs.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Raman reads bulk molecular composition — the average protein, lipid, nucleic-acid and sugar content of the cell. The toxin protein is a tiny fraction of the total.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0E7C66"/>
                </a:solidFill>
                <a:latin typeface="Arial"/>
              </a:rPr>
              <a:t>•  So separating STEC from Non-STEC asks Raman to see the bulk-chemistry shadow of one gene. Near-chance on this split is the biologically expected result — not a failure of effort.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Two hard characters: K-12 — a 100-year-old lab strain with deleted surface genes that no longer looks like wild E. coli; and Salmonella — a different genus, so genuinely easier.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532120"/>
            <a:ext cx="10881360" cy="713232"/>
          </a:xfrm>
          <a:prstGeom prst="roundRect">
            <a:avLst/>
          </a:prstGeom>
          <a:solidFill>
            <a:srgbClr val="EEF3F1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/>
            <a:r>
              <a:rPr sz="1200" i="1">
                <a:solidFill>
                  <a:srgbClr val="1A202C"/>
                </a:solidFill>
                <a:latin typeface="Arial"/>
              </a:rPr>
              <a:t>Where we DO see between-strain signal, it lives in the cell-wall sugar (LPS) region — serogroup architecture, not the toxin itself.  →  next slide.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BIOLOGY · WHERE THE SIGNAL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What the Spectra Are Made Of — Macromolecules &amp; LPS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60350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600"/>
              </a:spcBef>
              <a:spcAft>
                <a:spcPts val="300"/>
              </a:spcAft>
            </a:pPr>
            <a:r>
              <a:rPr sz="1450" b="1" i="0">
                <a:solidFill>
                  <a:srgbClr val="0E7C66"/>
                </a:solidFill>
                <a:latin typeface="Arial"/>
              </a:rPr>
              <a:t>Every Raman peak belongs to a chemistry family. Five matter here (example peak):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Aromatic amino acids — 1004 cm⁻¹ (phenylalanine): the total-protein anchor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Protein amide / backbone — 1242 (β-sheet), 1658 (α-helix): protein secondary structure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Nucleic acid (DNA/RNA) — 786, 1338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Lipid / carbohydrate — 1080, 1450, 2850–2930: membrane &amp; sugars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7C66"/>
                </a:solidFill>
                <a:latin typeface="Arial"/>
              </a:rPr>
              <a:t>      –  LPS (cell-wall sugar) — 1050, 1117, 1194:  the real discriminator</a:t>
            </a:r>
          </a:p>
          <a:p>
            <a:pPr>
              <a:lnSpc>
                <a:spcPct val="103000"/>
              </a:lnSpc>
              <a:spcBef>
                <a:spcPts val="60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LPS = lipopolysaccharide, the sugar-and-fat coat on the outer membrane. Its O-antigen sugar chains differ by serogroup (O157 vs O121 vs O103), so the 800–1200 cm⁻¹ LPS region is where genuine between-strain signal lives.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Biology-grounded feature confirms it: bio_alpha_helix_score d = −0.986 — Non-STEC carries more α-helix protein than STEC.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46A00"/>
                </a:solidFill>
                <a:latin typeface="Arial"/>
              </a:rPr>
              <a:t>•  The trap: LPS separates serogroups, not virulence → a feature can ace trained strains and fail on a held-out strain with a different O-antigen.</a:t>
            </a:r>
          </a:p>
        </p:txBody>
      </p:sp>
      <p:pic>
        <p:nvPicPr>
          <p:cNvPr id="6" name="Picture 5" descr="05_macromolecul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194560"/>
            <a:ext cx="4937760" cy="2312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454562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Macromolecule profile per class (left) and the LPS bands (right): lps_1194 d=+1.03, STEC &gt; Non-STEC.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THE PLAN ·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The Plan ① — Survey the Field, Then Let the Data Talk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8813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600"/>
              </a:spcBef>
              <a:spcAft>
                <a:spcPts val="300"/>
              </a:spcAft>
            </a:pPr>
            <a:r>
              <a:rPr sz="1450" b="1" i="0">
                <a:solidFill>
                  <a:srgbClr val="0E7C66"/>
                </a:solidFill>
                <a:latin typeface="Arial"/>
              </a:rPr>
              <a:t>Step 1 — survey what's known: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Two papers worked this exact problem: Cisek 2013 (STEC vs E. coli) and Yuan 2024 (Salmonella).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We didn't borrow their spectra — Raman is instrument-dependent, so it would teach the machine, not the microbe.</a:t>
            </a:r>
          </a:p>
          <a:p>
            <a:pPr>
              <a:lnSpc>
                <a:spcPct val="103000"/>
              </a:lnSpc>
              <a:spcBef>
                <a:spcPts val="600"/>
              </a:spcBef>
              <a:spcAft>
                <a:spcPts val="300"/>
              </a:spcAft>
            </a:pPr>
            <a:r>
              <a:rPr sz="1450" b="1" i="0">
                <a:solidFill>
                  <a:srgbClr val="0E7C66"/>
                </a:solidFill>
                <a:latin typeface="Arial"/>
              </a:rPr>
              <a:t>Step 2 — let the data talk (exploratory data analysis):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Class mean spectra are nearly identical → the signal is subtle (shape &amp; ratios, not gross peaks).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Ranking bands by how well they separate classes → the LPS sugar region wins (lps_1194 AUROC 0.775, d = +1.03).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The published Cisek bands came out null / sign-reversed here → don't trust literature bands blindly.</a:t>
            </a:r>
          </a:p>
        </p:txBody>
      </p:sp>
      <p:pic>
        <p:nvPicPr>
          <p:cNvPr id="6" name="Picture 5" descr="09_best1d_au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34" y="3931920"/>
            <a:ext cx="4617826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86934" y="6027420"/>
            <a:ext cx="461782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Best single-band separation per task — LPS bands lead both; everything sits below the 0.75 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THE PLAN ·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The Plan ② — The Honest Test, Priorities &amp;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6492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A202C"/>
                </a:solidFill>
                <a:latin typeface="Arial"/>
              </a:rPr>
              <a:t>•  The most important decision was not a model — it was the test. Within-strain files share an acquisition session, so ordinary cross-validation would put near-replicates in train AND test and leak batch effects, flattering the score.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0E7C66"/>
                </a:solidFill>
                <a:latin typeface="Arial"/>
              </a:rPr>
              <a:t>•  So we use Leave-One-Strain-Out (LOSO): train on some strains, test on a strain never seen. That is the number we trust. (It is a 9-point statistic → wide error bars, stated honestly.)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Where to look — priority by macromolecule (from the EDA): carbohydrate / LPS first (best surface signature) → protein → lipid → nucleic acid last (broadly conserved, so it looks the same across these bacteria).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Hypothesis: cell-surface sugar (LPS) chemistry carries enough signal to separate same-species strains — even though the toxin gene itself is invisible to bulk Raman.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Success criterion: beat 25% chance under LOSO, and report honestly where it can't.</a:t>
            </a:r>
          </a:p>
        </p:txBody>
      </p:sp>
      <p:pic>
        <p:nvPicPr>
          <p:cNvPr id="6" name="Picture 5" descr="chstretch_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37360"/>
            <a:ext cx="4480560" cy="37211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5496603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PCA of the C–H region: water (purple) splits off cleanly; bacteria overlap — real but subtle signal.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METHODS ·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From Messy Files to Trustworthy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5852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87 messy instrument files → one clean dataset. The .xls files mislabel their grid size, mix separators, and include partial scans — all surfaced as metadata, not hidden.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Clean every spectrum (5 steps): de-spike cosmic rays → subtract the fluorescence baseline (arPLS) → smooth (Savitzky–Golay) → crop to informative bands (2,048 → 987) → normalize (SNV).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Predict per pixel, then average a sample's ~72 pixels into one per-file decision — a file is what you actually want to classify.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A202C"/>
                </a:solidFill>
                <a:latin typeface="Arial"/>
              </a:rPr>
              <a:t>•  Built as a contract: blocking quality gates halt the pipeline if the data is bad, so nothing broken ever reaches the modeling step.</a:t>
            </a:r>
          </a:p>
        </p:txBody>
      </p:sp>
      <p:pic>
        <p:nvPicPr>
          <p:cNvPr id="6" name="Picture 5" descr="before_after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442" y="1737360"/>
            <a:ext cx="3638875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07442" y="5981700"/>
            <a:ext cx="36388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Raw (fluorescent, spiky) → cleaned, normalized 987-point spectrum.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METHODS ·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We Swept the Toolbox — Classical Won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5852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Swept the whole toolbox against the honest LOSO bar: PLS-DA, logistic regression, SVM, random forest, XGBoost (classical); 1D-CNN, 1D-Transformer, domain-adversarial net (deep); plus 5 ensemble schemes.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0E7C66"/>
                </a:solidFill>
                <a:latin typeface="Arial"/>
              </a:rPr>
              <a:t>•  Winner: PLS-DA on the raw cleaned spectrum — LOSO 0.603. Nothing beat it.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Why classical won: 87 files is tiny. Deep nets overfit the training strains — the wide-patch Transformer literally blurred the narrow Raman peaks (LOSO 0.19). PLS-DA's low-rank projection is a built-in regularizer that generalizes to unseen strains.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Lesson: for narrow-peak spectroscopy at small N, classical low-rank methods beat flexible deep models.</a:t>
            </a:r>
          </a:p>
        </p:txBody>
      </p:sp>
      <p:pic>
        <p:nvPicPr>
          <p:cNvPr id="6" name="Picture 5" descr="fig08_algo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28800"/>
            <a:ext cx="5029200" cy="2378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2280" y="42455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On engineered features LogReg (0.436) beats PLS-DA (0.324) — but raw-spectrum PLS-DA (0.603, dashed) beats them 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METHODS ·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Going Deeper — 259 Engineered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60350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600"/>
              </a:spcBef>
              <a:spcAft>
                <a:spcPts val="300"/>
              </a:spcAft>
            </a:pPr>
            <a:r>
              <a:rPr sz="1450" b="1" i="0">
                <a:solidFill>
                  <a:srgbClr val="0E7C66"/>
                </a:solidFill>
                <a:latin typeface="Arial"/>
              </a:rPr>
              <a:t>To try to beat the raw spectrum, we built 259 chemistry-grounded features in 5 families: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15A · Pseudo-Voigt peak fits (height / width / area per band) — highest-yield; dominates the final model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15B · wavelets, region-PCA, spectral-angle template matching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15C · MCR-ALS unmixing — see next slide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15D · biology ratios — bio_alpha_helix_score d = −0.986 (Non-STEC more α-helix); first K-12-specific axis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15E · spatial moments — null for STEC↔Non-STEC; gives an E. coli↔Salmonella signal (spat_skew_lps_1117 d=+0.725)</a:t>
            </a:r>
          </a:p>
          <a:p>
            <a:pPr>
              <a:lnSpc>
                <a:spcPct val="103000"/>
              </a:lnSpc>
              <a:spcBef>
                <a:spcPts val="60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Inside each fold, pick the top 35 features by mutual information — with only ~3 features per file, aggressive selection is mandatory.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B46A00"/>
                </a:solidFill>
                <a:latin typeface="Arial"/>
              </a:rPr>
              <a:t>•  Honest punchline: the best engineered model (LogReg 0.448) still lost to raw-spectrum PLS-DA (0.603). The information was already in the spectrum shape.</a:t>
            </a:r>
          </a:p>
        </p:txBody>
      </p:sp>
      <p:pic>
        <p:nvPicPr>
          <p:cNvPr id="6" name="Picture 5" descr="fig02_top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011680"/>
            <a:ext cx="4937760" cy="2838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48883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Top features by effect size — peak-fits and LPS bands lead.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METHODS · MCR-ALS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MCR-ALS — Unmixing, and the Leakage Lesson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69494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MCR-ALS (Multivariate Curve Resolution) un-mixes the whole pile of spectra into a few “pure-ingredient” spectra plus how much of each sits in every pixel — like reversing a smoothie back into its ingredients.</a:t>
            </a:r>
          </a:p>
          <a:p>
            <a:pPr>
              <a:lnSpc>
                <a:spcPct val="103000"/>
              </a:lnSpc>
              <a:spcBef>
                <a:spcPts val="200"/>
              </a:spcBef>
              <a:spcAft>
                <a:spcPts val="8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all spectra  (N pixels × wavenumbers)   ≈   C · Sᵀ      [ S = K pure-component spectra ;  C = abundance per pixel ]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We found K = 7 meaningful components — one captured the substrate / fluorescence artifact, which usefully isolates the instrument signal away from the biology.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A202C"/>
                </a:solidFill>
                <a:latin typeface="Arial"/>
              </a:rPr>
              <a:t>•  The crown-jewel lesson: the strongest single feature in the whole project, mcr_C6_mean, had Cohen's d = −1.23 — but it came from fitting MCR on ALL the data at once (a global fit).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B46A00"/>
                </a:solidFill>
                <a:latin typeface="Arial"/>
              </a:rPr>
              <a:t>•  Re-fit MCR INSIDE each fold on training pixels only (the leakage-safe way) and the components reorder — MCR has rotational / label ambiguity — so “C6” isn't stable and the feature did NOT survive per-fold selection. The −1.23 was partly a leakage artifact, and proper cross-validation demoted it.</a:t>
            </a:r>
          </a:p>
        </p:txBody>
      </p:sp>
      <p:pic>
        <p:nvPicPr>
          <p:cNvPr id="6" name="Picture 5" descr="stage15c_pure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788" y="1554480"/>
            <a:ext cx="3550024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54788" y="5981700"/>
            <a:ext cx="355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Global-fit components. Re-fit per fold, these reorder — which is exactly why the d=−1.23 feature isn't reproducible.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The Results — The Numbers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6126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The funnel: 87 files → 7,122 spectra → 987 bins → 259 features → 35 selected.</a:t>
            </a:r>
          </a:p>
          <a:p>
            <a:pPr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A202C"/>
                </a:solidFill>
                <a:latin typeface="Arial"/>
              </a:rPr>
              <a:t>Two recipes — do not mix them up: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6035040" cy="1298448"/>
          </a:xfrm>
          <a:prstGeom prst="roundRect">
            <a:avLst/>
          </a:prstGeom>
          <a:solidFill>
            <a:srgbClr val="EEF3F1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E7C66"/>
                </a:solidFill>
                <a:latin typeface="Arial"/>
              </a:rPr>
              <a:t>HEADLINE</a:t>
            </a:r>
            <a:r>
              <a:rPr sz="1250" b="1">
                <a:solidFill>
                  <a:srgbClr val="1A202C"/>
                </a:solidFill>
                <a:latin typeface="Arial"/>
              </a:rPr>
              <a:t>   raw 987-bin spectrum → PLS-DA → LOSO 0.603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52606D"/>
                </a:solidFill>
                <a:latin typeface="Arial"/>
              </a:rPr>
              <a:t>DEPLOYED</a:t>
            </a:r>
            <a:r>
              <a:rPr sz="1250" b="0">
                <a:solidFill>
                  <a:srgbClr val="1A202C"/>
                </a:solidFill>
                <a:latin typeface="Arial"/>
              </a:rPr>
              <a:t>   35 features → LogReg-L2 → 0.448  (CI 0.345–0.552)</a:t>
            </a:r>
          </a:p>
          <a:p>
            <a:r>
              <a:rPr sz="1050" i="1">
                <a:solidFill>
                  <a:srgbClr val="52606D"/>
                </a:solidFill>
                <a:latin typeface="Arial"/>
              </a:rPr>
              <a:t>PLS-DA on those features collapses to 0.324 — it needs the full spectrum.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612648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The engineered track plateaued just below raw — and we report that honestly.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Statistics done right: 5,000-sample bootstrap for the error bar; McNemar test (LogReg beats PLS-DA, p = 0.002 — but only on the same 35 features, NOT a claim against the 0.603 raw headline).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Context: chance is 25%. 0.448 ≈ 1.8× chance, 0.603 ≈ 2.4× chance.</a:t>
            </a:r>
          </a:p>
        </p:txBody>
      </p:sp>
      <p:pic>
        <p:nvPicPr>
          <p:cNvPr id="8" name="Picture 7" descr="fig11_bootstrap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93776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0" y="40157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Bootstrap distribution of LOSO accuracy → 95% CI [0.345, 0.552].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RESULTS ·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Where It Works, and Where It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The whole-task number hides a split — easy decisions are strong; the biologically-thin one is near chance.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0E7C66"/>
                </a:solidFill>
                <a:latin typeface="Arial"/>
              </a:rPr>
              <a:t>•  Wins: ATCC25922 0.889, O121:H19 0.889, Typhimurium 0.778. Water-vs-bacteria ≈ AUROC 1.0 in deployment.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46A00"/>
                </a:solidFill>
                <a:latin typeface="Arial"/>
              </a:rPr>
              <a:t>•  Failures: K-12 0.00 (atypical lab strain), Dublin 0.111. The held-out water fold scores 0.00 under LOSO — a protocol artifact (no water in training), not a real defect.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The consistent bias: under uncertainty the model defaults to STEC — all 8 held-out water files were called STEC. Conservative for food safety, but inflates false positives.</a:t>
            </a:r>
          </a:p>
        </p:txBody>
      </p:sp>
      <p:pic>
        <p:nvPicPr>
          <p:cNvPr id="6" name="Picture 5" descr="fig06_stage15f_per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03320"/>
            <a:ext cx="5486400" cy="2276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176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Per-strain LOSO recall — wins and zeros.</a:t>
            </a:r>
          </a:p>
        </p:txBody>
      </p:sp>
      <p:pic>
        <p:nvPicPr>
          <p:cNvPr id="8" name="Picture 7" descr="fig07_stage15f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857" y="3703320"/>
            <a:ext cx="2659086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5857" y="6027420"/>
            <a:ext cx="26590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Confusion matrix — the water row defaults to STEC.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Three Scientific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600"/>
              </a:spcBef>
              <a:spcAft>
                <a:spcPts val="300"/>
              </a:spcAft>
            </a:pPr>
            <a:r>
              <a:rPr sz="1450" b="1" i="0">
                <a:solidFill>
                  <a:srgbClr val="0E7C66"/>
                </a:solidFill>
                <a:latin typeface="Arial"/>
              </a:rPr>
              <a:t>1.  A published discriminator did not replicate.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Cisek 2013's three bands (1338 / 1454 / 1658) came out null / sign-reversed on our data (one band flipped sign). Reported as non-replication under different conditions — not “they're wrong.”</a:t>
            </a:r>
          </a:p>
          <a:p>
            <a:pPr>
              <a:lnSpc>
                <a:spcPct val="103000"/>
              </a:lnSpc>
              <a:spcBef>
                <a:spcPts val="900"/>
              </a:spcBef>
              <a:spcAft>
                <a:spcPts val="300"/>
              </a:spcAft>
            </a:pPr>
            <a:r>
              <a:rPr sz="1450" b="1" i="0">
                <a:solidFill>
                  <a:srgbClr val="0E7C66"/>
                </a:solidFill>
                <a:latin typeface="Arial"/>
              </a:rPr>
              <a:t>2.  The real signal is cell-wall sugar (LPS).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Best single band auc_lps_1194, d = +1.03 — surface serogroup architecture in the 800–1200 cm⁻¹ region, exactly where the biology predicted.</a:t>
            </a:r>
          </a:p>
          <a:p>
            <a:pPr>
              <a:lnSpc>
                <a:spcPct val="103000"/>
              </a:lnSpc>
              <a:spcBef>
                <a:spcPts val="900"/>
              </a:spcBef>
              <a:spcAft>
                <a:spcPts val="300"/>
              </a:spcAft>
            </a:pPr>
            <a:r>
              <a:rPr sz="1450" b="1" i="0">
                <a:solidFill>
                  <a:srgbClr val="B46A00"/>
                </a:solidFill>
                <a:latin typeface="Arial"/>
              </a:rPr>
              <a:t>3.  Our strongest feature was a leakage artifact — and we caught it.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B46A00"/>
                </a:solidFill>
                <a:latin typeface="Arial"/>
              </a:rPr>
              <a:t>      –  mcr_C6_mean (d = −1.23) vanished under per-fold refitting. It is the best evidence that the whole workflow can be trusted: it demotes its own too-good-to-be-true numbers.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Rigor — How We Avoided Fooling Ourselves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881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A202C"/>
                </a:solidFill>
                <a:latin typeface="Arial"/>
              </a:rPr>
              <a:t>•  The real risk in an AI-accelerated workflow isn't bad code — it's confident, plausible, wrong results. Every step was built to catch exactly that.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Per-fold refitting of MCR / PCA / SAM — exposes leakage (it killed our own d = −1.23 feature).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Bootstrap confidence intervals, not point estimates. McNemar tests, not eyeballing.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Leave-one-strain-out, not flattering k-fold. Pinned-dependency, reproducible notebooks.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A literature-falsification track — we tested the Cisek claim instead of assuming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914400"/>
          </a:xfrm>
          <a:prstGeom prst="roundRect">
            <a:avLst/>
          </a:prstGeom>
          <a:solidFill>
            <a:srgbClr val="EEF3F1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/>
            <a:r>
              <a:rPr sz="1200" i="1">
                <a:solidFill>
                  <a:srgbClr val="1A202C"/>
                </a:solidFill>
                <a:latin typeface="Arial"/>
              </a:rPr>
              <a:t>“Treat every result — AI-generated or not — like a finding from a collaborator you don't fully trust: verify everything. The leakage I caught in my own strongest feature is the proof.”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Honest Limitations &amp; Deployment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6126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STEC ↔ Non-STEC is near chance — biology, not effort (one phage-encoded gene).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46A00"/>
                </a:solidFill>
                <a:latin typeface="Arial"/>
              </a:rPr>
              <a:t>•  LPS separates serogroups, not virulence → a held-out strain with a new O-antigen (e.g. O157) fails. The “serogroup-specificity trap.”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Tiny N: only 9 strains, one lab, one instrument → wide CI and batch confounding (a probe still reads file-identity at ~14% vs 1.15% chance).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Mixed-sample stress test: ~10–20% accuracy drop at 10–20% contamination, and the model leans toward STEC under uncertainty.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A202C"/>
                </a:solidFill>
                <a:latin typeface="Arial"/>
              </a:rPr>
              <a:t>•  No cross-instrument or open-set test yet — every number is within our own corpus.</a:t>
            </a:r>
          </a:p>
        </p:txBody>
      </p:sp>
      <p:pic>
        <p:nvPicPr>
          <p:cNvPr id="6" name="Picture 5" descr="stage7_degrad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937760" cy="17566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371499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2606D"/>
                </a:solidFill>
                <a:latin typeface="Arial"/>
              </a:rPr>
              <a:t>Synthetic contamination → accuracy degrades; predictions lean STEC.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How to Improve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A202C"/>
                </a:solidFill>
                <a:latin typeface="Arial"/>
              </a:rPr>
              <a:t>•  Re-measure each specimen multiple times, in different spectral windows, in triplicate — turns 1 scan into ~12 datasets per sample and controls mechanical / acquisition error.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Separate lab strains from fresh field isolates so the model learns biology, not lab adaptation.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The real bottleneck is strain diversity, not pixel count → add more strains + a second instrument.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0E7C66"/>
                </a:solidFill>
                <a:latin typeface="Arial"/>
              </a:rPr>
              <a:t>•  Free next step: run our model on public ATCC25922 spectra (Zhu 2022, Ho 2019) — the same strain in another lab. The sharpest cross-lab test, at zero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10881360" cy="2057400"/>
          </a:xfrm>
          <a:prstGeom prst="roundRect">
            <a:avLst/>
          </a:prstGeom>
          <a:solidFill>
            <a:srgbClr val="EEF3F1"/>
          </a:solidFill>
          <a:ln w="6350">
            <a:solidFill>
              <a:srgbClr val="52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4630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7C66"/>
                </a:solidFill>
                <a:latin typeface="Arial"/>
              </a:rPr>
              <a:t>Proposed acquisition protocol   (all scans in triplicate → 12 datasets / sample)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02C"/>
                </a:solidFill>
                <a:latin typeface="Courier New"/>
              </a:rPr>
              <a:t>Sample A  ──►  full scan    400–1800 cm⁻¹    ×3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02C"/>
                </a:solidFill>
                <a:latin typeface="Courier New"/>
              </a:rPr>
              <a:t>          ──►  window 1     400–700  cm⁻¹    ×3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02C"/>
                </a:solidFill>
                <a:latin typeface="Courier New"/>
              </a:rPr>
              <a:t>          ──►  window 2     600–1300 cm⁻¹    ×3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02C"/>
                </a:solidFill>
                <a:latin typeface="Courier New"/>
              </a:rPr>
              <a:t>          ──►  window 3    1000–1800 cm⁻¹  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An AI-Integrated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A web dashboard so a non-specialist can use the model: drop in a spectrum → live identification in seconds.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Runs both models side by side — raw-spectrum PLS-DA and engineered-feature LogReg — with class probabilities for every call.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02C"/>
                </a:solidFill>
                <a:latin typeface="Arial"/>
              </a:rPr>
              <a:t>•  Easy comparison across many parameters in one place: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annotated spectra with the chemistry bands marked  ·  the LPS region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top discriminating features  ·  the 7 MCR components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2606D"/>
                </a:solidFill>
                <a:latin typeface="Arial"/>
              </a:rPr>
              <a:t>      –  confusion matrix  ·  an honest uncertainty / limitations panel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700"/>
              </a:spcAft>
            </a:pPr>
            <a:r>
              <a:rPr sz="1450" b="1" i="0">
                <a:solidFill>
                  <a:srgbClr val="1A202C"/>
                </a:solidFill>
                <a:latin typeface="Arial"/>
              </a:rPr>
              <a:t>•  Goal: turn the analysis into a tool — identification + interpretation together, with the model's limits shown openly rather than hidden.</a:t>
            </a:r>
          </a:p>
          <a:p>
            <a:pPr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 i="1">
                <a:solidFill>
                  <a:srgbClr val="52606D"/>
                </a:solidFill>
                <a:latin typeface="Arial"/>
              </a:rPr>
              <a:t>Built with a Next.js front-end and serverless (Modal) inference running the real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APPENDIX ·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Questions to Expect — Numbers &amp;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“You have two different best numbers?”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0.603 = PLS-DA on the raw spectrum (headline). 0.448 = LogReg on engineered features (deployed). The engineered features plateaued below raw — and we say so.</a:t>
            </a:r>
          </a:p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“LogReg beats PLS-DA, p = 0.002 — so you beat your baseline?”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No. That test is engineered-vs-engineered features only. Raw-spectrum PLS-DA (0.603) was never beaten.</a:t>
            </a:r>
          </a:p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“Isn't the LogReg 0.488?”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≈ 0.448, not 0.488 — the best model of the feature-engineering track. It still lost to raw-spectrum PLS-DA (0.603).</a:t>
            </a:r>
          </a:p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“Same model for water and Salmonella?”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One multiclass model with four outputs — a spectrum scores all four classes and we take the highest. Not one model per class.</a:t>
            </a:r>
          </a:p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“Why not an ensemble?”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We tried five ensemble schemes plus the deep nets. None beat the single PLS-DA — the added complexity didn't improve generalization.</a:t>
            </a:r>
          </a:p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“What is PLS-DA, in one breath?”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It squashes the 987-point spectrum into ~30 label-aware directions that best separate the four classes, then classifies there — like PCA, but supervised.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C66"/>
                </a:solidFill>
                <a:latin typeface="Arial"/>
              </a:rPr>
              <a:t>APPENDIX ·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02C"/>
                </a:solidFill>
                <a:latin typeface="Arial"/>
              </a:rPr>
              <a:t>Questions to Expect — Methods &amp; Rigor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2286000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“Why did deep learning lose to a classical method?”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87 files is tiny — CNNs / Transformers overfit, and wide patches blur the narrow Raman peaks. At small N, classical low-rank wins.</a:t>
            </a:r>
          </a:p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“Did you really falsify Cisek 2013?”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Careful wording: it didn't transfer to file level under our replicate structure — not “they are wrong.”</a:t>
            </a:r>
          </a:p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“Is your strongest feature real?”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No — mcr_C6_mean d = −1.23 came from a global MCR fit (leakage). It was killed by re-fitting MCR inside each fold.</a:t>
            </a:r>
          </a:p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“Why not generate synthetic data?”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The bottleneck is real strains, not spectra — synthetic data can't invent an unseen strain, would inflate LOSO, and risks teaching artifacts. Even a WGAN tops out ~94%.</a:t>
            </a:r>
          </a:p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“Why not use the reference papers' data?”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Raman is instrument-dependent — another lab's spectra teach the instrument, not the microbe (a batch confound). We used their methods; running our model on public ATCC25922 is the free #1 next step.</a:t>
            </a:r>
          </a:p>
          <a:p>
            <a:pPr>
              <a:lnSpc>
                <a:spcPct val="103000"/>
              </a:lnSpc>
              <a:spcBef>
                <a:spcPts val="800"/>
              </a:spcBef>
              <a:spcAft>
                <a:spcPts val="100"/>
              </a:spcAft>
            </a:pPr>
            <a:r>
              <a:rPr sz="1400" b="1" i="0">
                <a:solidFill>
                  <a:srgbClr val="0E7C66"/>
                </a:solidFill>
                <a:latin typeface="Arial"/>
              </a:rPr>
              <a:t>Q  “Did you actually have cosmic rays?”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A202C"/>
                </a:solidFill>
                <a:latin typeface="Arial"/>
              </a:rPr>
              <a:t>      Yes — 99.7% of spectra had ≥1 flagged point, the tallest ~6,000σ. But the z&gt;5 threshold also trims ordinary noise; the genuine hits are the extreme tail above z&gt;50.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2606D"/>
                </a:solidFill>
                <a:latin typeface="Arial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606D"/>
                </a:solidFill>
                <a:latin typeface="Arial"/>
              </a:rPr>
              <a:t>Atlas · Raman bacterial classifier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